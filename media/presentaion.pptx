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1645920" cy="310896"/>
          </a:xfrm>
          <a:prstGeom prst="roundRect">
            <a:avLst/>
          </a:prstGeom>
          <a:solidFill>
            <a:srgbClr val="26D3EE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297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7DCD7"/>
                </a:solidFill>
                <a:latin typeface="Aptos"/>
              </a:rPr>
              <a:t>HACKATHON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6675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8F9"/>
                </a:solidFill>
                <a:latin typeface="Aptos"/>
              </a:rPr>
              <a:t>AI-Based Groundwater Monitoring</a:t>
            </a:r>
            <a:br/>
            <a:r>
              <a:rPr sz="2800" b="1">
                <a:solidFill>
                  <a:srgbClr val="F2F8F9"/>
                </a:solidFill>
                <a:latin typeface="Aptos"/>
              </a:rPr>
              <a:t>and Smart Water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DCD7"/>
                </a:solidFill>
                <a:latin typeface="Aptos"/>
              </a:rPr>
              <a:t>For Rural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5394960" cy="25146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CD7"/>
                </a:solidFill>
                <a:latin typeface="Aptos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Groundwater depletion from over-extraction and irregular rainfall</a:t>
            </a:r>
          </a:p>
          <a:p>
            <a:pPr>
              <a:spcAft>
                <a:spcPts val="5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Manual and infrequent monitoring misses early changes</a:t>
            </a:r>
          </a:p>
          <a:p>
            <a:pPr>
              <a:spcAft>
                <a:spcPts val="5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Water-quality degradation can remain unnoticed</a:t>
            </a:r>
          </a:p>
          <a:p>
            <a:pPr>
              <a:spcAft>
                <a:spcPts val="5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Unequal availability across shared rural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960120"/>
            <a:ext cx="4983480" cy="448056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234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RURAL WATER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1828800"/>
            <a:ext cx="1005840" cy="2423160"/>
          </a:xfrm>
          <a:prstGeom prst="rect">
            <a:avLst/>
          </a:prstGeom>
          <a:solidFill>
            <a:srgbClr val="070A0F"/>
          </a:solidFill>
          <a:ln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14232" y="1993392"/>
            <a:ext cx="676656" cy="438912"/>
          </a:xfrm>
          <a:prstGeom prst="roundRect">
            <a:avLst/>
          </a:prstGeom>
          <a:solidFill>
            <a:srgbClr val="26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2F8F9"/>
                </a:solidFill>
                <a:latin typeface="Aptos"/>
              </a:rPr>
              <a:t>ULTRASONIC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468880"/>
            <a:ext cx="0" cy="169164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03720" y="3886200"/>
            <a:ext cx="4251960" cy="914400"/>
          </a:xfrm>
          <a:prstGeom prst="rect">
            <a:avLst/>
          </a:prstGeom>
          <a:solidFill>
            <a:srgbClr val="23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4251960"/>
            <a:ext cx="4251960" cy="548640"/>
          </a:xfrm>
          <a:prstGeom prst="rect">
            <a:avLst/>
          </a:prstGeom>
          <a:solidFill>
            <a:srgbClr val="16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8006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F8F9"/>
                </a:solidFill>
                <a:latin typeface="Aptos"/>
              </a:rPr>
              <a:t>Continuous data  →  Early warning  →  Better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4243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DCD7"/>
                </a:solidFill>
                <a:latin typeface="Aptos"/>
              </a:rPr>
              <a:t>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65099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F8F9"/>
                </a:solidFill>
                <a:latin typeface="Aptos"/>
              </a:rPr>
              <a:t>Enable continuous, localized and data-driven groundwater monitoring and equitable water-management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A3BCC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8F9"/>
                </a:solidFill>
                <a:latin typeface="Aptos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8F9"/>
                </a:solidFill>
                <a:latin typeface="Aptos"/>
              </a:rPr>
              <a:t>A real sensor-to-decision pipeline: live ESP32 readings flow into Flask and SQLite.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325880" cy="65836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11095"/>
            <a:ext cx="123443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WATER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874519"/>
            <a:ext cx="1508760" cy="65836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911095"/>
            <a:ext cx="141731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ULTRASONIC</a:t>
            </a:r>
            <a:br/>
            <a:r>
              <a:rPr>
                <a:solidFill>
                  <a:srgbClr val="F2F8F9"/>
                </a:solidFill>
                <a:latin typeface="Aptos"/>
              </a:rPr>
              <a:t>+ TDS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74519"/>
            <a:ext cx="1325880" cy="65836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911095"/>
            <a:ext cx="123443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ESP32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74519"/>
            <a:ext cx="1325880" cy="65836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911095"/>
            <a:ext cx="123443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WI-FI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874519"/>
            <a:ext cx="1508760" cy="65836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911095"/>
            <a:ext cx="141731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FLASK</a:t>
            </a:r>
            <a:br/>
            <a:r>
              <a:rPr>
                <a:solidFill>
                  <a:srgbClr val="F2F8F9"/>
                </a:solidFill>
                <a:latin typeface="Aptos"/>
              </a:rPr>
              <a:t>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74519"/>
            <a:ext cx="1508760" cy="65836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911095"/>
            <a:ext cx="141731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SQLITE</a:t>
            </a:r>
            <a:br/>
            <a:r>
              <a:rPr>
                <a:solidFill>
                  <a:srgbClr val="F2F8F9"/>
                </a:solidFill>
                <a:latin typeface="Aptos"/>
              </a:rPr>
              <a:t>DATABASE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2203704"/>
            <a:ext cx="365761" cy="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9039" y="2203704"/>
            <a:ext cx="320041" cy="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94960" y="2203704"/>
            <a:ext cx="274320" cy="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12280" y="2203704"/>
            <a:ext cx="320040" cy="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41080" y="2203704"/>
            <a:ext cx="320040" cy="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063240" y="3246120"/>
            <a:ext cx="2240280" cy="82296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282696"/>
            <a:ext cx="2148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AI PREDICTION</a:t>
            </a:r>
            <a:br/>
            <a:r>
              <a:rPr>
                <a:solidFill>
                  <a:srgbClr val="F2F8F9"/>
                </a:solidFill>
                <a:latin typeface="Aptos"/>
              </a:rPr>
              <a:t>+ TREND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3246120"/>
            <a:ext cx="2011680" cy="82296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282696"/>
            <a:ext cx="1920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STREAMLIT</a:t>
            </a:r>
            <a:br/>
            <a:r>
              <a:rPr>
                <a:solidFill>
                  <a:srgbClr val="F2F8F9"/>
                </a:solidFill>
                <a:latin typeface="Aptos"/>
              </a:rPr>
              <a:t>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3246120"/>
            <a:ext cx="2331720" cy="82296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282696"/>
            <a:ext cx="22402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2F8F9"/>
                </a:solidFill>
                <a:latin typeface="Aptos"/>
              </a:rPr>
              <a:t>ZONE-WISE</a:t>
            </a:r>
            <a:br/>
            <a:r>
              <a:rPr>
                <a:solidFill>
                  <a:srgbClr val="F2F8F9"/>
                </a:solidFill>
                <a:latin typeface="Aptos"/>
              </a:rPr>
              <a:t>DECISION SUPPORT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10928" y="2542032"/>
            <a:ext cx="0" cy="612648"/>
          </a:xfrm>
          <a:prstGeom prst="line">
            <a:avLst/>
          </a:prstGeom>
          <a:ln w="25400">
            <a:solidFill>
              <a:srgbClr val="39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936992" y="3657600"/>
            <a:ext cx="1042416" cy="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321808" y="3657600"/>
            <a:ext cx="576072" cy="0"/>
          </a:xfrm>
          <a:prstGeom prst="line">
            <a:avLst/>
          </a:prstGeom>
          <a:ln w="25400">
            <a:solidFill>
              <a:srgbClr val="26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" y="4709160"/>
            <a:ext cx="10881360" cy="11430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56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DCD7"/>
                </a:solidFill>
                <a:latin typeface="Aptos"/>
              </a:rPr>
              <a:t>CURRENTLY DEMO-READY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30952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8F9"/>
                </a:solidFill>
                <a:latin typeface="Aptos"/>
              </a:rPr>
              <a:t>✓ Real ultrasonic + TDS readings   ✓ Wi-Fi transmission   ✓ Flask API   ✓ SQLite storage   ✓ Streamlit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A3BCC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8F9"/>
                </a:solidFill>
                <a:latin typeface="Aptos"/>
              </a:rPr>
              <a:t>What Makes It Innovative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8F9"/>
                </a:solidFill>
                <a:latin typeface="Aptos"/>
              </a:rPr>
              <a:t>Quantity, quality, prediction and zone-level prioritization in one low-cost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14600" cy="224028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F8F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8F9"/>
                </a:solidFill>
                <a:latin typeface="Aptos"/>
              </a:rPr>
              <a:t>LOCALIZED</a:t>
            </a:r>
            <a:br/>
            <a:r>
              <a:rPr>
                <a:solidFill>
                  <a:srgbClr val="F2F8F9"/>
                </a:solidFill>
                <a:latin typeface="Aptos"/>
              </a:rPr>
              <a:t>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5292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Continuous readings from individual wells /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14600" cy="224028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276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F8F9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29968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8F9"/>
                </a:solidFill>
                <a:latin typeface="Aptos"/>
              </a:rPr>
              <a:t>QUALITY +</a:t>
            </a:r>
            <a:br/>
            <a:r>
              <a:rPr>
                <a:solidFill>
                  <a:srgbClr val="F2F8F9"/>
                </a:solidFill>
                <a:latin typeface="Aptos"/>
              </a:rPr>
              <a:t>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5292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Water level + TDS in one low-cost node.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14600" cy="224028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276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F8F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29968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8F9"/>
                </a:solidFill>
                <a:latin typeface="Aptos"/>
              </a:rPr>
              <a:t>AI-ASSISTED</a:t>
            </a:r>
            <a:br/>
            <a:r>
              <a:rPr>
                <a:solidFill>
                  <a:srgbClr val="F2F8F9"/>
                </a:solidFill>
                <a:latin typeface="Aptos"/>
              </a:rP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5292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Trend analysis to flag future low-level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17320"/>
            <a:ext cx="2514600" cy="224028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16276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F8F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029968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F8F9"/>
                </a:solidFill>
                <a:latin typeface="Aptos"/>
              </a:rPr>
              <a:t>ZONE-WISE</a:t>
            </a:r>
            <a:br/>
            <a:r>
              <a:rPr>
                <a:solidFill>
                  <a:srgbClr val="F2F8F9"/>
                </a:solidFill>
                <a:latin typeface="Aptos"/>
              </a:rPr>
              <a:t>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85292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Rank zones by severity and recommend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CD7"/>
                </a:solidFill>
                <a:latin typeface="Aptos"/>
              </a:rPr>
              <a:t>ZONE PRIORITIZATION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72000"/>
            <a:ext cx="3337560" cy="109728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7548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8F9"/>
                </a:solidFill>
                <a:latin typeface="Aptos"/>
              </a:rPr>
              <a:t>ZONE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7365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8D297"/>
                </a:solidFill>
                <a:latin typeface="Aptos"/>
              </a:rPr>
              <a:t>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513892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Stable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572000"/>
            <a:ext cx="3337560" cy="109728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7548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8F9"/>
                </a:solidFill>
                <a:latin typeface="Aptos"/>
              </a:rPr>
              <a:t>ZONE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7365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BE47"/>
                </a:solidFill>
                <a:latin typeface="Aptos"/>
              </a:rPr>
              <a:t>WATCH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13892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Declining trend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4572000"/>
            <a:ext cx="3337560" cy="109728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1" y="47548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8F9"/>
                </a:solidFill>
                <a:latin typeface="Aptos"/>
              </a:rPr>
              <a:t>ZONE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47365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5C67"/>
                </a:solidFill>
                <a:latin typeface="Aptos"/>
              </a:rPr>
              <a:t>CRITICAL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513892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Immediate attention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6188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2F8F9"/>
                </a:solidFill>
                <a:latin typeface="Aptos"/>
              </a:rPr>
              <a:t>FROM REACTIVE MONITORING  →  TO PREDICTIVE, ZONE-BASED DECISION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A3BCC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8F9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8F9"/>
                </a:solidFill>
                <a:latin typeface="Aptos"/>
              </a:rPr>
              <a:t>Low-cost IoT hardware connected to a Python analytics and dashboard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37560" cy="452628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CD7"/>
                </a:solidFill>
                <a:latin typeface="Aptos"/>
              </a:rPr>
              <a:t>HARDWARE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325880" cy="45720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2F8F9"/>
                </a:solidFill>
                <a:latin typeface="Aptos"/>
              </a:rP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295144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Edge 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90088"/>
            <a:ext cx="1325880" cy="45720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26664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2F8F9"/>
                </a:solidFill>
                <a:latin typeface="Aptos"/>
              </a:rPr>
              <a:t>HC-SR04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044952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Prototype level sensing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39896"/>
            <a:ext cx="1325880" cy="45720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7647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2F8F9"/>
                </a:solidFill>
                <a:latin typeface="Aptos"/>
              </a:rPr>
              <a:t>TDS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794759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Water-quality sensing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9704"/>
            <a:ext cx="1325880" cy="45720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26280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2F8F9"/>
                </a:solidFill>
                <a:latin typeface="Aptos"/>
              </a:rPr>
              <a:t>JSN-SR04T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5445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Planned waterproof field upgrade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417320"/>
            <a:ext cx="7269480" cy="20574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737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CD7"/>
                </a:solidFill>
                <a:latin typeface="Aptos"/>
              </a:rPr>
              <a:t>SOFTWARE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286000"/>
            <a:ext cx="1005840" cy="47548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322576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7DCD7"/>
                </a:solidFill>
                <a:latin typeface="Aptos"/>
              </a:rPr>
              <a:t>ARDUINO 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2286000"/>
            <a:ext cx="1005840" cy="47548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322576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7DCD7"/>
                </a:solidFill>
                <a:latin typeface="Aptos"/>
              </a:rPr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2286000"/>
            <a:ext cx="1005840" cy="47548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322576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7DCD7"/>
                </a:solidFill>
                <a:latin typeface="Aptos"/>
              </a:rPr>
              <a:t>FLASK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2286000"/>
            <a:ext cx="1005840" cy="47548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322576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7DCD7"/>
                </a:solidFill>
                <a:latin typeface="Aptos"/>
              </a:rPr>
              <a:t>SQLITE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2286000"/>
            <a:ext cx="1005840" cy="47548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2322576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7DCD7"/>
                </a:solidFill>
                <a:latin typeface="Aptos"/>
              </a:rPr>
              <a:t>PANDAS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78440" y="2286000"/>
            <a:ext cx="1005840" cy="475488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2322576"/>
            <a:ext cx="914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7DCD7"/>
                </a:solidFill>
                <a:latin typeface="Aptos"/>
              </a:rPr>
              <a:t>STREAMLIT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290779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DCD7"/>
                </a:solidFill>
                <a:latin typeface="Aptos"/>
              </a:rPr>
              <a:t>AI /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8803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F8F9"/>
                </a:solidFill>
                <a:latin typeface="Aptos"/>
              </a:rPr>
              <a:t>Trend analysis • Regression • Historical groundwater-level prediction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3749039"/>
            <a:ext cx="7269480" cy="219456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0416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CD7"/>
                </a:solidFill>
                <a:latin typeface="Aptos"/>
              </a:rPr>
              <a:t>END-TO-END FLOW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4572000"/>
            <a:ext cx="960120" cy="50292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608576"/>
            <a:ext cx="868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2F8F9"/>
                </a:solidFill>
                <a:latin typeface="Aptos"/>
              </a:rPr>
              <a:t>SENSORS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532120" y="4828032"/>
            <a:ext cx="457200" cy="0"/>
          </a:xfrm>
          <a:prstGeom prst="line">
            <a:avLst/>
          </a:prstGeom>
          <a:ln w="25400">
            <a:solidFill>
              <a:srgbClr val="233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89320" y="4572000"/>
            <a:ext cx="960120" cy="50292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4608576"/>
            <a:ext cx="868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2F8F9"/>
                </a:solidFill>
                <a:latin typeface="Aptos"/>
              </a:rPr>
              <a:t>ESP32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49440" y="4828032"/>
            <a:ext cx="182880" cy="0"/>
          </a:xfrm>
          <a:prstGeom prst="line">
            <a:avLst/>
          </a:prstGeom>
          <a:ln w="25400">
            <a:solidFill>
              <a:srgbClr val="233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32320" y="4572000"/>
            <a:ext cx="960120" cy="50292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608576"/>
            <a:ext cx="868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47DCD7"/>
                </a:solidFill>
                <a:latin typeface="Aptos"/>
              </a:rPr>
              <a:t>FLASK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92440" y="4828032"/>
            <a:ext cx="182880" cy="0"/>
          </a:xfrm>
          <a:prstGeom prst="line">
            <a:avLst/>
          </a:prstGeom>
          <a:ln w="25400">
            <a:solidFill>
              <a:srgbClr val="233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275320" y="4572000"/>
            <a:ext cx="960120" cy="50292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608576"/>
            <a:ext cx="868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47DCD7"/>
                </a:solidFill>
                <a:latin typeface="Aptos"/>
              </a:rPr>
              <a:t>SQLITE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35440" y="4828032"/>
            <a:ext cx="182880" cy="0"/>
          </a:xfrm>
          <a:prstGeom prst="line">
            <a:avLst/>
          </a:prstGeom>
          <a:ln w="25400">
            <a:solidFill>
              <a:srgbClr val="233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418320" y="4572000"/>
            <a:ext cx="960120" cy="50292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4040" y="4608576"/>
            <a:ext cx="868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2F8F9"/>
                </a:solidFill>
                <a:latin typeface="Aptos"/>
              </a:rPr>
              <a:t>AI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378440" y="4828032"/>
            <a:ext cx="91440" cy="0"/>
          </a:xfrm>
          <a:prstGeom prst="line">
            <a:avLst/>
          </a:prstGeom>
          <a:ln w="25400">
            <a:solidFill>
              <a:srgbClr val="233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0469880" y="4572000"/>
            <a:ext cx="960120" cy="50292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0" y="4608576"/>
            <a:ext cx="868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2F8F9"/>
                </a:solidFill>
                <a:latin typeface="Aptos"/>
              </a:rPr>
              <a:t>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A3BCC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8F9"/>
                </a:solidFill>
                <a:latin typeface="Aptos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8F9"/>
                </a:solidFill>
                <a:latin typeface="Aptos"/>
              </a:rPr>
              <a:t>Build on the working prototype rather than replacing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337560" cy="16002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276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62763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48D297"/>
                </a:solidFill>
                <a:latin typeface="Aptos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9339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7DCD7"/>
                </a:solidFill>
                <a:latin typeface="Aptos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774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ESP32 + ultrasonic + TDS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337560" cy="16002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276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2763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48D297"/>
                </a:solidFill>
                <a:latin typeface="Aptos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99339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8F9"/>
                </a:solidFill>
                <a:latin typeface="Aptos"/>
              </a:rPr>
              <a:t>DATA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774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Wi-Fi → Flask →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63040"/>
            <a:ext cx="3337560" cy="16002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6276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162763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48D297"/>
                </a:solidFill>
                <a:latin typeface="Aptos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99339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8F9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3774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Streamlit monitoring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3337560" cy="16002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685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68503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FBE47"/>
                </a:solidFill>
                <a:latin typeface="Aptos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050791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8F9"/>
                </a:solidFill>
                <a:latin typeface="Aptos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4348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Trend / regression prediction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40"/>
            <a:ext cx="3337560" cy="16002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685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8503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FBE47"/>
                </a:solidFill>
                <a:latin typeface="Aptos"/>
              </a:rP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050791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8F9"/>
                </a:solidFill>
                <a:latin typeface="Aptos"/>
              </a:rPr>
              <a:t>ZONES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4348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Priority + recommendations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520440"/>
            <a:ext cx="3337560" cy="160020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39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685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3685032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47DCD7"/>
                </a:solidFill>
                <a:latin typeface="Aptos"/>
              </a:rPr>
              <a:t>FUTURE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050791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8F9"/>
                </a:solidFill>
                <a:latin typeface="Aptos"/>
              </a:rPr>
              <a:t>FIELD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4348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8F9"/>
                </a:solidFill>
                <a:latin typeface="Aptos"/>
              </a:rPr>
              <a:t>Waterproof + cloud + multi-node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623560"/>
            <a:ext cx="10881360" cy="594360"/>
          </a:xfrm>
          <a:prstGeom prst="roundRect">
            <a:avLst/>
          </a:prstGeom>
          <a:solidFill>
            <a:srgbClr val="131C27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8815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F8F9"/>
                </a:solidFill>
                <a:latin typeface="Aptos"/>
              </a:rPr>
              <a:t>LIVE DEMO PATH: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760720"/>
            <a:ext cx="8915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2F8F9"/>
                </a:solidFill>
                <a:latin typeface="Aptos"/>
              </a:rPr>
              <a:t>Sensor → ESP32 → Flask → SQLite → Dashboard → Prediction → Zone 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A3BCC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8F9"/>
                </a:solidFill>
                <a:latin typeface="Aptos"/>
              </a:rPr>
              <a:t>Impact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8F9"/>
                </a:solidFill>
                <a:latin typeface="Aptos"/>
              </a:rPr>
              <a:t>A scalable foundation for smarter and more equitable rural water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74920" cy="443484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CD7"/>
                </a:solidFill>
                <a:latin typeface="Aptos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2F8F9"/>
                </a:solidFill>
                <a:latin typeface="Aptos"/>
              </a:rPr>
              <a:t>WATER CONSERVATION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Identify declining sources earlier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2F8F9"/>
                </a:solidFill>
                <a:latin typeface="Aptos"/>
              </a:rPr>
              <a:t>EARLY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07208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Flag critical groundwater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6557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2F8F9"/>
                </a:solidFill>
                <a:latin typeface="Aptos"/>
              </a:rPr>
              <a:t>QUALITY 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65576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Track changes in TDS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2394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2F8F9"/>
                </a:solidFill>
                <a:latin typeface="Aptos"/>
              </a:rPr>
              <a:t>EQUITABLE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23944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Prioritize zones using actual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2F8F9"/>
                </a:solidFill>
                <a:latin typeface="Aptos"/>
              </a:rPr>
              <a:t>LOW-COST 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82312"/>
            <a:ext cx="2606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2F8F9"/>
                </a:solidFill>
                <a:latin typeface="Aptos"/>
              </a:rPr>
              <a:t>Replicate nodes across rural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371600"/>
            <a:ext cx="5532120" cy="4434840"/>
          </a:xfrm>
          <a:prstGeom prst="roundRect">
            <a:avLst/>
          </a:prstGeom>
          <a:solidFill>
            <a:srgbClr val="0E141D"/>
          </a:solidFill>
          <a:ln w="10160"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DCD7"/>
                </a:solidFill>
                <a:latin typeface="Aptos"/>
              </a:rPr>
              <a:t>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0312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Multiple ESP32 sensor nodes</a:t>
            </a:r>
          </a:p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JSN-SR04T waterproof field deployment</a:t>
            </a:r>
          </a:p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Cloud backend for anywhere access</a:t>
            </a:r>
          </a:p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Solar-powered remote nodes</a:t>
            </a:r>
          </a:p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Mobile alerts and notifications</a:t>
            </a:r>
          </a:p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GIS / map-based groundwater visualization</a:t>
            </a:r>
          </a:p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Automatic pump and solenoid-valve control</a:t>
            </a:r>
          </a:p>
          <a:p>
            <a:pPr>
              <a:spcAft>
                <a:spcPts val="500"/>
              </a:spcAft>
              <a:defRPr sz="1220">
                <a:solidFill>
                  <a:srgbClr val="F2F7FA"/>
                </a:solidFill>
                <a:latin typeface="Aptos"/>
              </a:defRPr>
            </a:pPr>
            <a:r>
              <a:rPr>
                <a:solidFill>
                  <a:srgbClr val="F2F8F9"/>
                </a:solidFill>
                <a:latin typeface="Aptos"/>
              </a:rPr>
              <a:t>• Larger datasets and improved ML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61888"/>
            <a:ext cx="10881360" cy="438912"/>
          </a:xfrm>
          <a:prstGeom prst="roundRect">
            <a:avLst/>
          </a:prstGeom>
          <a:solidFill>
            <a:srgbClr val="26D3EE"/>
          </a:solidFill>
          <a:ln w="10160">
            <a:solidFill>
              <a:srgbClr val="26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016752"/>
            <a:ext cx="10515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6121B"/>
                </a:solidFill>
                <a:latin typeface="Aptos"/>
              </a:rPr>
              <a:t>MEASURE  →  PREDICT  →  PRIORITIZE  →  CONSERVE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>
                <a:solidFill>
                  <a:srgbClr val="A3BCC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